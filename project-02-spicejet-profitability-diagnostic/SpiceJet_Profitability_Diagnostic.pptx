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SpiceJet: Revenue vs. Net Profit/(Loss), FY26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1060</c:v>
                </c:pt>
                <c:pt idx="1">
                  <c:v>708</c:v>
                </c:pt>
                <c:pt idx="2">
                  <c:v>1408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/ (Loss) (₹ cr)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FY26</c:v>
                  </c:pt>
                  <c:pt idx="1">
                    <c:v>Q2 FY26</c:v>
                  </c:pt>
                  <c:pt idx="2">
                    <c:v>Q3 FY26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-234</c:v>
                </c:pt>
                <c:pt idx="1">
                  <c:v>-621</c:v>
                </c:pt>
                <c:pt idx="2">
                  <c:v>-261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Q1 FY26 YoY Decline (%) — Cost Lines vs. Total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Decline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ATF</c:v>
                  </c:pt>
                  <c:pt idx="1">
                    <c:v>Lease Rental</c:v>
                  </c:pt>
                  <c:pt idx="2">
                    <c:v>Airport Charges</c:v>
                  </c:pt>
                  <c:pt idx="3">
                    <c:v>Maintenance</c:v>
                  </c:pt>
                  <c:pt idx="4">
                    <c:v>Total Expenses</c:v>
                  </c:pt>
                  <c:pt idx="5">
                    <c:v>Revenue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41.4</c:v>
                </c:pt>
                <c:pt idx="1">
                  <c:v>59</c:v>
                </c:pt>
                <c:pt idx="2">
                  <c:v>11.5</c:v>
                </c:pt>
                <c:pt idx="3">
                  <c:v>4.8</c:v>
                </c:pt>
                <c:pt idx="4">
                  <c:v>25.2</c:v>
                </c:pt>
                <c:pt idx="5">
                  <c:v>35.6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DIAGNOSTIC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SpiceJet: Diagnosing a Profitability Crisis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Path Back to Breakeven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quarter-by-quarter analysis of FY26 results, benchmarked against IndiGo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 |  Independent Business Analysis Project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are a capacity story first, a cost story second — recovery is underway but scale remains the core risk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collapsed 35.6% YoY in Q1 FY26, troughed in Q2, then recovered 13.8% YoY in Q3 — losses have followed this exact curve, deepening then narrowing.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Root Cause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industry-wide Pratt &amp; Whitney engine grounding crisis cut capacity faster than costs could adjust — this hit every airline, but hit SpiceJet's thin margins hardest.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 faced the same Q3 headwinds (labour-code costs, forex) and still posted a 22.9% operating margin. SpiceJet, at 1/17th the revenue scale, has no comparable cushion.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8736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fleet reactivation speed over route expansion, hedge fuel/forex exposure, concentrate capacity on proven high-yield routes, and pursue a capital infusion to rebuild the balance sheet.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quarter-by-quarter look shows losses tracking the revenue curve, not a separate cost blowout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8745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/>
          <p:nvPr/>
        </p:nvSpPr>
        <p:spPr>
          <a:xfrm>
            <a:off x="8961120" y="173736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revenue fell 35.6% YoY — faster than the 25.2% YoY expense decline — swinging the airline from profit to loss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732520" y="31089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0" y="297180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revenue troughed at ₹708cr as grounded aircraft and weak leisure demand persisted; loss widened to ₹621cr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43434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0" y="4206240"/>
            <a:ext cx="2743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revenue grew 78% sequentially as fleet returned to service — loss narrowed sharply to ₹261cr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quarter, same headwinds, opposite outcomes — IndiGo's scale is the difference, not its cost discipline alone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4206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764792"/>
            <a:ext cx="329184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1764792"/>
            <a:ext cx="3566160" cy="457200"/>
          </a:xfrm>
          <a:prstGeom prst="rect">
            <a:avLst/>
          </a:prstGeom>
          <a:solidFill>
            <a:srgbClr val="46529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64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764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83880" y="1764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11430000" cy="603504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402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FY26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₹1,408 cr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224028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₹23,472 cr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114300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9864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8986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+13.8%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3880" y="2898648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57016"/>
            <a:ext cx="11430000" cy="603504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5701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/ EBITDA margin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5570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-13.4%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355701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+22.9%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15384"/>
            <a:ext cx="1143000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153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2153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₹261 cr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42153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of ₹550 cr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873752"/>
            <a:ext cx="11430000" cy="603504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87375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by labour-code + forex shocks?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487375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83880" y="48737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(₹969cr + ₹1,035cr exceptional items)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6692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 ratio: IndiGo operates at roughly 17x SpiceJet's quarterly revenue — the same shock that dents IndiGo's margin can push SpiceJet into a loss outright.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CAPACITY SHOCK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industry-wide engine crisis grounded aircraft across every major carrier, not just SpiceJet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SHOCK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Pratt &amp; Whitney's PW1100G/PW1500G geared-turbofan defect has forced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600-720 A320neo-family aircraft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grounding globally for inspection and repair — a multi-year disruption affecting IndiGo, Wizz Air, Lufthansa Group carriers, and SpiceJet alike.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48463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IndiGo — India's largest, best-capitalized carrier — reported ~40 aircraft grounded and guided to mid-30s groundings for the following quarter.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SPICEJET FEELS IT MORE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242316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2860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aircraft still carry lease and maintenance costs, whether flying or not — a fixed cost that doesn't scale down with reduced capacity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356616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4290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SpiceJet's smaller total fleet means each grounded aircraft removes a larger share of total capacity than the same grounding would at IndiGo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4709160"/>
            <a:ext cx="109728" cy="109728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57200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has required a rapid, costly fleet rebuild — from 54 total aircraft (19 operational) in Q2 FY26 to 68 total (32 operational) by December 2025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REVERSE OPERATING LEVERAGE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Q1, revenue fell faster than costs could be cut — the textbook mechanism behind the swing to loss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distinct, mutually exclusive drivers explain the loss — each needs a different fix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Capacity Shock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Industry-wide engine groundings cut available seat-kilometres faster than fixed costs (leases, maintenance) could be shed.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480560"/>
            <a:ext cx="3154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accelerate fleet reactivation, not route expansion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11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Cost Volatility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prices and rupee depreciation add earnings volatility on top of an already-thin margin base.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4480560"/>
            <a:ext cx="3154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46177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hedge fuel and forex exposure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0116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Scale Disadvantage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60604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~1/17th IndiGo's revenue, SpiceJet has no margin cushion to absorb shocks that larger peers absorb routinely.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4480560"/>
            <a:ext cx="315468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46177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concentrate capacity on proven high-yield routes; raise capital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four-part plan: restore capacity, de-risk costs, focus the network, rebuild the balance sheet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Restore Capacity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months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speed of fleet reactivation over new route announcements — Q3's recovery shows this is the single biggest lever on the loss 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46529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Hedge Cost Volatility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310896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2461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fuel and forex hedges to reduce the earnings swings a thin-margin carrier can least afford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Focus the Network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months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10896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461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returning capacity on proven high-yield domestic trunk routes and niche international/charter markets (e.g. Haj operations) rather than spreading thin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465294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Rebuild the Balance Sheet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35440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310896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24612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 capital infusion or strategic partner — cost actions alone cannot offset a structural scale disadvantage against IndiGo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Q3 recovery already validates the core thesis — capacity restoration, not cost-cutting, is what moves the loss line. The plan is built to accelerate and protect that recovery.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plan's biggest external dependency is outside SpiceJet's control — the pace of engine repair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P&amp;W's engine repair timeline slips further, delaying fleet reactivation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0" cy="6400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56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flexible short-term wet-lease capacity to bridge gaps, as IndiGo has done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272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prices or rupee depreciation worsen faster than hedges can be layered 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944368"/>
            <a:ext cx="0" cy="6400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3127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hedge maturities and revisit quarterly rather than locking a single annual rate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04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41513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 are unreceptive given negative book value and FII outflows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968496"/>
            <a:ext cx="0" cy="6400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904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41513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strategic/anchor investor routes alongside public capital raises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286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51755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Network-focus strategy cedes share in deprioritized routes to IndiGo/Air India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4992624"/>
            <a:ext cx="0" cy="6400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928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517550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deliberate trade-off — margin recovery over market-share defense in Year 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methodology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Standard — SpiceJet Q1 FY26 and Q2 FY26 results coverage (revenue, net loss, EBITDA, cost breakdown)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Securities — SpiceJet Q3 FY26 results (revenue, net loss, expense growth)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MarketsMojo — SpiceJet Q3 FY26 result analysis (operating margins, market cap) and IndiGo Q3 FY26 result analysis (EBITDA margin)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Zeebiz / Bajaj Broking — IndiGo Q3 FY26 results (revenue, net profit, EBITDAR margin, exceptional items)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Week / FlightGlobal / TheAirCurrent — Pratt &amp; Whitney PW1100G/PW1500G engine grounding crisis, industry-wide scope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Deccan Herald — IndiGo grounding disclosures for comparative context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is an independent analytical exercise using public, press-reported financial data (not internal company documents), built to demonstrate profitability-diagnostic methodology. Minor cross-source rounding exists (e.g. revenue-from-operations vs. total-income bases); the directional narrative is consistent across every source consulted. Companion Excel workbook contains the full data table and calculations.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SpiceJet — Profitability Diagnostic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2026-07-18T02:21:14Z</dcterms:created>
  <dcterms:modified xsi:type="dcterms:W3CDTF">2026-07-18T02:21:14Z</dcterms:modified>
</cp:coreProperties>
</file>