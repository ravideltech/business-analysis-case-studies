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A1A1A"/>
                </a:solidFill>
                <a:latin typeface="Calibri"/>
              </a:rPr>
              <a:t>India Quick-Commerce Market Size ($B)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 ($B)</c:v>
                </c:pt>
              </c:strCache>
            </c:strRef>
          </c:tx>
          <c:spPr>
            <a:solidFill>
              <a:srgbClr val="2F3C7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2024</c:v>
                  </c:pt>
                  <c:pt idx="1">
                    <c:v>2025</c:v>
                  </c:pt>
                  <c:pt idx="2">
                    <c:v>2026</c:v>
                  </c:pt>
                  <c:pt idx="3">
                    <c:v>2029E</c:v>
                  </c:pt>
                  <c:pt idx="4">
                    <c:v>2030E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5.5</c:v>
                </c:pt>
                <c:pt idx="1">
                  <c:v>6.8</c:v>
                </c:pt>
                <c:pt idx="2">
                  <c:v>9.5</c:v>
                </c:pt>
                <c:pt idx="3">
                  <c:v>13</c:v>
                </c:pt>
                <c:pt idx="4">
                  <c:v>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A1A1A"/>
                </a:solidFill>
                <a:latin typeface="Calibri"/>
              </a:rPr>
              <a:t>Est. Market Share, 2026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Share (%)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Blinkit</c:v>
                  </c:pt>
                  <c:pt idx="1">
                    <c:v>Instamart</c:v>
                  </c:pt>
                  <c:pt idx="2">
                    <c:v>Zepto</c:v>
                  </c:pt>
                  <c:pt idx="3">
                    <c:v>BigBasket / Others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46</c:v>
                </c:pt>
                <c:pt idx="1">
                  <c:v>24</c:v>
                </c:pt>
                <c:pt idx="2">
                  <c:v>22</c:v>
                </c:pt>
                <c:pt idx="3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A1A1A"/>
                </a:solidFill>
                <a:latin typeface="Calibri"/>
              </a:rPr>
              <a:t>Orders per Day per Dark Store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Orders/Day per Dark Store</c:v>
                </c:pt>
              </c:strCache>
            </c:strRef>
          </c:tx>
          <c:spPr>
            <a:solidFill>
              <a:srgbClr val="2F3C7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Mature Metro
(breakeven zone)</c:v>
                  </c:pt>
                  <c:pt idx="1">
                    <c:v>Non-Metro / Tier-2
(current average)</c:v>
                  </c:pt>
                  <c:pt idx="2">
                    <c:v>FreshGo Wave 1
Modeled Target (M24)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1350</c:v>
                </c:pt>
                <c:pt idx="1">
                  <c:v>850</c:v>
                </c:pt>
                <c:pt idx="2">
                  <c:v>900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A1A1A"/>
                </a:solidFill>
                <a:latin typeface="Calibri"/>
              </a:rPr>
              <a:t>Single Dark Store — Cumulative Net Cash Flow (₹, incl. ₹9L setup cost)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Net Cash Flow (₹)</c:v>
                </c:pt>
              </c:strCache>
            </c:strRef>
          </c:tx>
          <c:spPr>
            <a:solidFill>
              <a:srgbClr val="2F3C7E"/>
            </a:solidFill>
            <a:ln w="31750" cap="flat">
              <a:solidFill>
                <a:srgbClr val="2F3C7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F3C7E"/>
              </a:solidFill>
              <a:ln w="9525" cap="flat">
                <a:solidFill>
                  <a:srgbClr val="2F3C7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-1155600</c:v>
                </c:pt>
                <c:pt idx="1">
                  <c:v>-1355236</c:v>
                </c:pt>
                <c:pt idx="2">
                  <c:v>-1498909</c:v>
                </c:pt>
                <c:pt idx="3">
                  <c:v>-1586618</c:v>
                </c:pt>
                <c:pt idx="4">
                  <c:v>-1618364</c:v>
                </c:pt>
                <c:pt idx="5">
                  <c:v>-1594145</c:v>
                </c:pt>
                <c:pt idx="6">
                  <c:v>-1513964</c:v>
                </c:pt>
                <c:pt idx="7">
                  <c:v>-1377818</c:v>
                </c:pt>
                <c:pt idx="8">
                  <c:v>-1185709</c:v>
                </c:pt>
                <c:pt idx="9">
                  <c:v>-937636</c:v>
                </c:pt>
                <c:pt idx="10">
                  <c:v>-633600</c:v>
                </c:pt>
                <c:pt idx="11">
                  <c:v>-273600</c:v>
                </c:pt>
                <c:pt idx="12">
                  <c:v>140400</c:v>
                </c:pt>
                <c:pt idx="13">
                  <c:v>608400</c:v>
                </c:pt>
                <c:pt idx="14">
                  <c:v>1130400</c:v>
                </c:pt>
                <c:pt idx="15">
                  <c:v>1706400</c:v>
                </c:pt>
                <c:pt idx="16">
                  <c:v>2336400</c:v>
                </c:pt>
                <c:pt idx="17">
                  <c:v>3020400</c:v>
                </c:pt>
                <c:pt idx="18">
                  <c:v>3758400</c:v>
                </c:pt>
                <c:pt idx="19">
                  <c:v>4550400</c:v>
                </c:pt>
                <c:pt idx="20">
                  <c:v>5396400</c:v>
                </c:pt>
                <c:pt idx="21">
                  <c:v>6296400</c:v>
                </c:pt>
                <c:pt idx="22">
                  <c:v>7250400</c:v>
                </c:pt>
                <c:pt idx="23">
                  <c:v>8258400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Month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INR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ENTRY ANALYSIS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Should FreshGo Retail Enter Quick-Commerce</a:t>
            </a:r>
            <a:endParaRPr lang="en-US" sz="3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Tier-2 India?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41605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phased-entry business case, built on public market data and dark-store unit economics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4800600"/>
            <a:ext cx="201168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126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Ravi Kumar  |  Independent Business Analysis Project  |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 selectively: pilot 10 Tier-2 cities, scale only where throughput proves out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7F7F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92808"/>
            <a:ext cx="457200" cy="4572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87452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Opportunity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quick-commerce market is growing 40%+ annually and is expected to nearly double by FY2030, with Tier-2/3 penetration as the next growth engine.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7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6446520" y="1892808"/>
            <a:ext cx="457200" cy="4572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86600" y="187452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Constraint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46520" y="246888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Dark-store profitability depends on order density. Non-metro stores run at ~850 orders/day vs. the 1,200-1,500/day metros need to break even — the core risk to underwrite.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7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4087368"/>
            <a:ext cx="457200" cy="4572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406908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Recommendation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7240" y="466344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10-store Wave 1 pilot in selected Tier-2 cities with strong density and income proxies. Modeled payback: ~13 months per store, contingent on hitting ramp targets.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388620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7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46520" y="4087368"/>
            <a:ext cx="457200" cy="4572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86600" y="406908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Guardrail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46520" y="466344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Wave 2 expansion on Wave 1 stores hitting 500+ orders/day by month 12 — expand only where the throughput assumption is proven, not on schedule.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FreshGo Retail — Tier-2 Quick-Commerce Market Entry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FreshGo's metro grocery business is mature — Tier-2 quick-commerce is the next growth call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577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FreshGo Retail operates a national grocery chain with a strong presence across India's top 8 metros.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Same-store growth in metros has slowed to single digits as competitors saturate the category, while quick-commerce players are racing into Tier-2/3 cities, the market's next frontier.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 this analysis answers: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526280"/>
            <a:ext cx="365760" cy="365760"/>
          </a:xfrm>
          <a:prstGeom prst="rect">
            <a:avLst/>
          </a:prstGeom>
          <a:solidFill>
            <a:srgbClr val="F9616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45262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Tier-2 quick-commerce opportunity large enough to matter?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5029200"/>
            <a:ext cx="365760" cy="365760"/>
          </a:xfrm>
          <a:prstGeom prst="rect">
            <a:avLst/>
          </a:prstGeom>
          <a:solidFill>
            <a:srgbClr val="F9616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5029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dark store in a Tier-2 city realistically break even?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5532120"/>
            <a:ext cx="365760" cy="365760"/>
          </a:xfrm>
          <a:prstGeom prst="rect">
            <a:avLst/>
          </a:prstGeom>
          <a:solidFill>
            <a:srgbClr val="F9616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55321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yes — where and how should FreshGo enter first?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75120" y="1737360"/>
            <a:ext cx="4937760" cy="3931920"/>
          </a:xfrm>
          <a:prstGeom prst="roundRect">
            <a:avLst>
              <a:gd name="adj" fmla="val 1860"/>
            </a:avLst>
          </a:prstGeom>
          <a:solidFill>
            <a:srgbClr val="2F3C7E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0" y="19659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040880" y="23317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40-45%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7040880" y="301752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annual growth in India quick-commerce GOV through 2030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040880" y="3657600"/>
            <a:ext cx="4206240" cy="0"/>
          </a:xfrm>
          <a:prstGeom prst="line">
            <a:avLst/>
          </a:prstGeom>
          <a:noFill/>
          <a:ln w="12700">
            <a:solidFill>
              <a:srgbClr val="46529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0" y="37947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~$30B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7040880" y="448056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India quick-commerce market size by FY2030, up from ~$5.5-6.8B today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040880" y="5120640"/>
            <a:ext cx="4206240" cy="0"/>
          </a:xfrm>
          <a:prstGeom prst="line">
            <a:avLst/>
          </a:prstGeom>
          <a:noFill/>
          <a:ln w="12700">
            <a:solidFill>
              <a:srgbClr val="46529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52578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Tier-2/3 penetration is the explicitly cited growth driver behind this forecast.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FreshGo Retail — Tier-2 Quick-Commerce Market Entry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India's quick-commerce market has grown 23x since 2022 and shows no sign of slowing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66751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43800" y="1874520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0" y="173736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2020-24 CAGR: 71.2% — among the fastest-growing retail channels globally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543800" y="2788920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0" y="265176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 of orders now delivered in under 10 minutes (2025)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543800" y="3703320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0" y="356616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Non-grocery categories (electronics, beauty, pharmacy) growing 1.6x faster than grocery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543800" y="4617720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0" y="448056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Tier-2/3 expansion and category broadening are the two structural growth levers cited across every industry forecast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FreshGo Retail — Tier-2 Quick-Commerce Market Entry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players hold 90%+ of the market — and all three are racing into Tier-2 cities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57607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675120" y="17830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Store Footprint (Mar 2026)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675120" y="2240280"/>
            <a:ext cx="4937760" cy="594360"/>
          </a:xfrm>
          <a:prstGeom prst="roundRect">
            <a:avLst>
              <a:gd name="adj" fmla="val 9231"/>
            </a:avLst>
          </a:prstGeom>
          <a:solidFill>
            <a:srgbClr val="F7F7FA"/>
          </a:solidFill>
          <a:ln/>
        </p:spPr>
      </p:sp>
      <p:sp>
        <p:nvSpPr>
          <p:cNvPr id="7" name="Text 4"/>
          <p:cNvSpPr/>
          <p:nvPr/>
        </p:nvSpPr>
        <p:spPr>
          <a:xfrm>
            <a:off x="6903720" y="22402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869680" y="224028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1,954 stores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332720" y="224028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675120" y="3017520"/>
            <a:ext cx="4937760" cy="594360"/>
          </a:xfrm>
          <a:prstGeom prst="roundRect">
            <a:avLst>
              <a:gd name="adj" fmla="val 9231"/>
            </a:avLst>
          </a:prstGeom>
          <a:solidFill>
            <a:srgbClr val="F7F7FA"/>
          </a:solidFill>
          <a:ln/>
        </p:spPr>
      </p:sp>
      <p:sp>
        <p:nvSpPr>
          <p:cNvPr id="11" name="Text 8"/>
          <p:cNvSpPr/>
          <p:nvPr/>
        </p:nvSpPr>
        <p:spPr>
          <a:xfrm>
            <a:off x="6903720" y="30175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Zepto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869680" y="30175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1,089 stores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332720" y="30175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675120" y="3794760"/>
            <a:ext cx="4937760" cy="594360"/>
          </a:xfrm>
          <a:prstGeom prst="roundRect">
            <a:avLst>
              <a:gd name="adj" fmla="val 9231"/>
            </a:avLst>
          </a:prstGeom>
          <a:solidFill>
            <a:srgbClr val="F7F7FA"/>
          </a:solidFill>
          <a:ln/>
        </p:spPr>
      </p:sp>
      <p:sp>
        <p:nvSpPr>
          <p:cNvPr id="15" name="Text 12"/>
          <p:cNvSpPr/>
          <p:nvPr/>
        </p:nvSpPr>
        <p:spPr>
          <a:xfrm>
            <a:off x="6903720" y="37947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Instamart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869680" y="37947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1,038 stores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332720" y="379476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675120" y="493776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4,081 dark stores nationally span 408 cities across 26 states — but leaders are still under-penetrated in Tier-2/3, leaving room for a focused, well-targeted entrant.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FreshGo Retail — Tier-2 Quick-Commerce Market Entry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RISK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Tier-2 stores run at ~60% of metro order density — this throughput gap is what the model must clear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828800"/>
          <a:ext cx="64008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52360" y="1828800"/>
            <a:ext cx="4206240" cy="4023360"/>
          </a:xfrm>
          <a:prstGeom prst="roundRect">
            <a:avLst>
              <a:gd name="adj" fmla="val 1818"/>
            </a:avLst>
          </a:prstGeom>
          <a:solidFill>
            <a:srgbClr val="FDEDEE"/>
          </a:solidFill>
          <a:ln/>
        </p:spPr>
      </p:sp>
      <p:sp>
        <p:nvSpPr>
          <p:cNvPr id="6" name="Text 3"/>
          <p:cNvSpPr/>
          <p:nvPr/>
        </p:nvSpPr>
        <p:spPr>
          <a:xfrm>
            <a:off x="7726680" y="2011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726680" y="242316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Elara Capital: a store doing 1,500 orders/day in a metro is profitable; the same store doing 400/day in a Tier-2 city </a:t>
            </a:r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take 18 months to break even — if it ever does.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726680" y="3840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 for FreshGo: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26680" y="420624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only makes sense in cities with strong density and income proxies, sized to a 24-month ramp — not a blanket rollout across all Tier-2 markets.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FreshGo Retail — Tier-2 Quick-Commerce Market Entry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a ₹550 AOV, each order contributes ~₹54 after variable costs — the lever fixed costs must clear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766560" cy="850392"/>
          </a:xfrm>
          <a:prstGeom prst="rect">
            <a:avLst/>
          </a:prstGeom>
          <a:solidFill>
            <a:srgbClr val="F7F7F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28800"/>
            <a:ext cx="3657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480560" y="1828800"/>
            <a:ext cx="14630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₹550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35040" y="1810512"/>
            <a:ext cx="1234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the ₹500-700 band cited as viable for QC breakeven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6766560" cy="850392"/>
          </a:xfrm>
          <a:prstGeom prst="rect">
            <a:avLst/>
          </a:prstGeom>
          <a:solidFill>
            <a:srgbClr val="F7F7F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788920"/>
            <a:ext cx="3657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(18%)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80560" y="2788920"/>
            <a:ext cx="14630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₹99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035040" y="2770632"/>
            <a:ext cx="1234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 captured per order before delivery cost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6766560" cy="850392"/>
          </a:xfrm>
          <a:prstGeom prst="rect">
            <a:avLst/>
          </a:prstGeom>
          <a:solidFill>
            <a:srgbClr val="F7F7F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749040"/>
            <a:ext cx="3657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cost / order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80560" y="3749040"/>
            <a:ext cx="14630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(₹45)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035040" y="3730752"/>
            <a:ext cx="1234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last-mile delivery + packing, Tier-2 estimate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48640" y="4709160"/>
            <a:ext cx="6766560" cy="850392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709160"/>
            <a:ext cx="3657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margin / order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480560" y="4709160"/>
            <a:ext cx="14630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035040" y="4690872"/>
            <a:ext cx="1234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left to cover the store's fixed costs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680960" y="1828800"/>
            <a:ext cx="3977640" cy="3703320"/>
          </a:xfrm>
          <a:prstGeom prst="roundRect">
            <a:avLst>
              <a:gd name="adj" fmla="val 1975"/>
            </a:avLst>
          </a:prstGeom>
          <a:solidFill>
            <a:srgbClr val="F7F7FA"/>
          </a:solidFill>
          <a:ln/>
        </p:spPr>
      </p:sp>
      <p:sp>
        <p:nvSpPr>
          <p:cNvPr id="21" name="Text 19"/>
          <p:cNvSpPr/>
          <p:nvPr/>
        </p:nvSpPr>
        <p:spPr>
          <a:xfrm>
            <a:off x="7909560" y="20116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COST TO CLEAR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09560" y="237744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₹4.5L / month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7909560" y="2971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rent, staff, utilities, refrigeration — per dark store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909560" y="3520440"/>
            <a:ext cx="356616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09560" y="36576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278 orders/day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909560" y="416052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just to cover fixed costs at ₹54 contribution/order — well below the Month-12 target of 500/day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FreshGo Retail — Tier-2 Quick-Commerce Market Entry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PROJECTION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Modeled payback: ~13 months per store, turning solidly cash-generative by month 24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110642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8503920" y="19659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even ~Month 13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FreshGo Retail — Tier-2 Quick-Commerce Market Entry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MITIGANTS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model's biggest sensitivity is demand ramp — the plan is built to de-risk exactly that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932688"/>
          </a:xfrm>
          <a:prstGeom prst="roundRect">
            <a:avLst>
              <a:gd name="adj" fmla="val 5882"/>
            </a:avLst>
          </a:prstGeom>
          <a:solidFill>
            <a:srgbClr val="F7F7F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5623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ramp falls short of 500/day by Month 12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0" y="1920240"/>
            <a:ext cx="0" cy="658368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185623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355080" y="21031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Wave 2 funding on Wave 1 stores hitting throughput targets before committing further capex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825496"/>
            <a:ext cx="11064240" cy="932688"/>
          </a:xfrm>
          <a:prstGeom prst="roundRect">
            <a:avLst>
              <a:gd name="adj" fmla="val 5882"/>
            </a:avLst>
          </a:prstGeom>
          <a:solidFill>
            <a:srgbClr val="F7F7F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9864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314553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Incumbents (Blinkit, Instamart) undercut on price to defend share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0" y="2962656"/>
            <a:ext cx="0" cy="658368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2898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55080" y="3145536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cities where incumbents have &lt;2 dark stores today — lower competitive intensity, not a price war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867912"/>
            <a:ext cx="11064240" cy="932688"/>
          </a:xfrm>
          <a:prstGeom prst="roundRect">
            <a:avLst>
              <a:gd name="adj" fmla="val 5882"/>
            </a:avLst>
          </a:prstGeom>
          <a:solidFill>
            <a:srgbClr val="F7F7FA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9410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" y="418795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AOV runs below the ₹500-700 viable band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0" y="4005072"/>
            <a:ext cx="0" cy="658368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394106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355080" y="418795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category mix toward higher-margin household staples and bulk packs, not just impulse grocery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910328"/>
            <a:ext cx="11064240" cy="932688"/>
          </a:xfrm>
          <a:prstGeom prst="roundRect">
            <a:avLst>
              <a:gd name="adj" fmla="val 5882"/>
            </a:avLst>
          </a:prstGeom>
          <a:solidFill>
            <a:srgbClr val="F7F7FA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9834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7240" y="523036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/ staffing costs run higher than Tier-1-derived estimates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26480" y="5047488"/>
            <a:ext cx="0" cy="658368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49834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MITIGANT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55080" y="523036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with a 3-month cost validation checkpoint before signing longer-term leases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FreshGo Retail — Tier-2 Quick-Commerce Market Entry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Phased entry: prove the model in 10 cities before committing to a national Tier-2 rollout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2F3C7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488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0-3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926080"/>
            <a:ext cx="2240280" cy="0"/>
          </a:xfrm>
          <a:prstGeom prst="line">
            <a:avLst/>
          </a:prstGeom>
          <a:noFill/>
          <a:ln w="12700">
            <a:solidFill>
              <a:srgbClr val="5A6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063240"/>
            <a:ext cx="22402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10 Tier-2 cities by density, income, and competitive white-space; sign leases, build out stores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9202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465294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21488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66160" y="251460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3-12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566160" y="2926080"/>
            <a:ext cx="2240280" cy="0"/>
          </a:xfrm>
          <a:prstGeom prst="line">
            <a:avLst/>
          </a:prstGeom>
          <a:noFill/>
          <a:ln w="12700">
            <a:solidFill>
              <a:srgbClr val="5A6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3063240"/>
            <a:ext cx="22402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and ramp all 10 stores; track orders/day weekly against the 120→500/day target curve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9202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2F3C7E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21488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251460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0" y="2926080"/>
            <a:ext cx="2240280" cy="0"/>
          </a:xfrm>
          <a:prstGeom prst="line">
            <a:avLst/>
          </a:prstGeom>
          <a:noFill/>
          <a:ln w="12700">
            <a:solidFill>
              <a:srgbClr val="5A66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3063240"/>
            <a:ext cx="22402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Go/no-go gate: expand to Wave 2 (25 cities) only where stores are tracking to the 500+/day threshold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52560" y="19202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465294"/>
          </a:solidFill>
          <a:ln/>
        </p:spPr>
      </p:sp>
      <p:sp>
        <p:nvSpPr>
          <p:cNvPr id="20" name="Text 18"/>
          <p:cNvSpPr/>
          <p:nvPr/>
        </p:nvSpPr>
        <p:spPr>
          <a:xfrm>
            <a:off x="9235440" y="21488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235440" y="251460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12-24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235440" y="2926080"/>
            <a:ext cx="2240280" cy="0"/>
          </a:xfrm>
          <a:prstGeom prst="line">
            <a:avLst/>
          </a:prstGeom>
          <a:noFill/>
          <a:ln w="12700">
            <a:solidFill>
              <a:srgbClr val="5A66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35440" y="3063240"/>
            <a:ext cx="22402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proven cities to steady state (~900 orders/day); exit or restructure underperforming Wave 1 stores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54864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this is a bounded, ~₹9M pilot investment with a modeled ~13-month per-store payback — sized to test the Tier-2 thesis without betting the business on it.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FreshGo Retail — Tier-2 Quick-Commerce Market Entry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&amp; methodology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ResearchAndMarkets — India Quick Commerce Market Databook, Q1 2026 Update (market size &amp; growth)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Mordor Intelligence — Q-Commerce Industry in India report, Jan 2026 (market share, GOV growth)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7889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7889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QuickCommerceMap — India Quick Commerce Map 2026 (dark store counts by platform)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2918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2918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Chiratae Ventures — Quick Commerce: New Pathway to Drive India's Consumption Story, 2025 (AOV &amp; breakeven throughput bands)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37947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37947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Redseer — The Dark Store Blind Spot, Feb 2026 (metro vs. non-metro orders/day benchmarks)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42976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42976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Elara Capital analyst commentary via SpaceDaily, Apr 2026 (Tier-2 breakeven timeline quote)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48006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48006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Hub / feeds.letspickquick.com — dark store cost-per-order ranges, 2026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5349240"/>
            <a:ext cx="1106424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54864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FreshGo Retail is a fictionalized client used to frame this as a self-directed market-entry case study. All market, competitor, and unit-economics figures are drawn from the public sources above; the financial model (see companion Excel workbook) applies these benchmarks to a hypothetical entrant.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FreshGo Retail — Tier-2 Quick-Commerce Market Entry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2026-07-18T02:02:54Z</dcterms:created>
  <dcterms:modified xsi:type="dcterms:W3CDTF">2026-07-18T02:02:54Z</dcterms:modified>
</cp:coreProperties>
</file>